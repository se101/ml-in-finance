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95" d="100"/>
          <a:sy n="9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84B6-E82A-A80C-6CF2-61EF3E19F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C04D8-7180-1535-9454-1D3500C11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7907E-4CE7-C254-C09B-00D22F96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BD5FE-DD53-6627-E22A-63B3483A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18CF-66E4-8BD5-90E7-74270B43F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3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6B65-BAAE-BD5F-E88F-C54683134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19AD3-1F85-E4EB-0EBA-350D12B40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8DF07-B23A-3645-B637-BCCC299E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D2018-BB83-AA9B-1056-AC965BF3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2E88C-4B79-0C52-F069-79A44D95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50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CCEF-106A-F124-05CA-624275F9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72967-5E86-EA7C-4AD6-FD78D749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4E408-B57E-FFFB-D93A-B12FD88B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C0F50-A029-8584-F31C-A44DA8606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DE7FA-E360-FFDA-D392-CD2E385F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1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7F29-E08B-3003-A97B-7282ECC4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2122E-84E5-C28E-3C66-A50534EF4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781C5-14B4-6FE1-9C9F-CE1EC1837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27975-48E4-0AB9-1779-12B69417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37B10-ED11-C827-D723-4A5EE68F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E75A9-EF9D-4738-E69D-14D53C72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80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F64F-11F6-EF51-12EC-2B6BC6C0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B928E-0D28-7465-5DEF-6E992BEC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5C26B-E0D6-CF8D-2115-D615D8CA2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CF6AEB-BB12-C761-AD0B-5F2F5B998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6DDB62-FEEB-FE99-EB44-F5CCEE802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9F20F-FB1D-E58F-FF37-0C277C5A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D054B9-03D0-85AF-8439-77EF46D0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5FBB3-AB58-0EA1-D23A-09A8CA6C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30BB6-E5F4-1EAA-0D82-BFB392C5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1BA1FC-1094-741A-B43C-739E5192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D8E1E-BB6F-3B05-A9E5-D514F031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47D24-54EE-773A-1610-AEBE8528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4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482AF-F3F6-4C69-07E6-20D0BBE1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19903-431B-B4B7-9299-314146F8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97CDD-4AC2-5E09-203D-F3729E1B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096DB-9038-9380-E1CB-99353121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3EE4D-6720-EF2D-18B8-D9484DFB6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B4C53-B37E-7925-2C0D-D984E286E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DFAC9-352A-7218-D7F1-90B3348E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5E597-AD23-3F8D-8C96-B81EFD79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EA0A3-5A60-183A-8B65-7C9358CF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2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0E8C9-A612-6841-77C1-F9A480AB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227F87-270C-7BAE-F1BC-7D4BACF04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0859E-4A51-D2F6-BC89-194925A6F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3341B-F899-F845-CEB2-05B909A79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964A8-990C-2D9A-8F87-5EAC1B24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44015-DCE3-4820-EDE6-2F9ADC08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98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E70F-6D81-45E1-E927-3CF30BEC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FCF2A-EB1A-8DD6-48AC-3D3203F63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58F61-7591-9C50-F59A-4A72014D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5510-070E-FD62-917A-AECEE00C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D75CD-8D5D-5691-3F03-F39E4E84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5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DBD62F-90C8-BCA8-7014-64EF5722C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3EB74-8270-0753-2566-68FBB1816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345E0-49F7-2FC3-4930-B57ED46F1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68ED3-C0A4-7213-2EF6-F787E888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2849-0CED-6381-81EF-A69F31DF9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0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AA863-186D-1B97-E072-4E2CC6850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D5426-CDD6-5A35-CEDF-735F5296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8ABFE-40BE-D430-2C09-37777E102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77760-BC4C-9148-9600-57CE8FC0D93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5DC1-E672-F62E-C5F0-CF8EFC451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CEBD1-AFB0-A84E-2513-908301F37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CB4F9-E974-1A4F-9538-13243DC41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4A4E-30FA-0621-88EE-02C039A4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AC9C4-82DF-30A1-6154-DEEE6B6F7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Overall PCA Stability and Interpretation</a:t>
            </a:r>
          </a:p>
          <a:p>
            <a:r>
              <a:rPr lang="en-US" sz="1600" dirty="0"/>
              <a:t>The explained variance ratios remain stable across rolling windows, indicating a persistent and robust factor structure.</a:t>
            </a:r>
          </a:p>
          <a:p>
            <a:r>
              <a:rPr lang="en-US" sz="1600" dirty="0"/>
              <a:t>PC1 consistently explains between 59% and 72% of total variance and captures a structural contrast between </a:t>
            </a:r>
            <a:r>
              <a:rPr lang="en-US" sz="1600" b="1" dirty="0"/>
              <a:t>industrial/real-economy attention</a:t>
            </a:r>
            <a:r>
              <a:rPr lang="en-US" sz="1600" dirty="0"/>
              <a:t> and </a:t>
            </a:r>
            <a:r>
              <a:rPr lang="en-US" sz="1600" b="1" dirty="0"/>
              <a:t>consumer/technology-driven narratives</a:t>
            </a:r>
            <a:r>
              <a:rPr lang="en-US" sz="1600" dirty="0"/>
              <a:t>.</a:t>
            </a:r>
          </a:p>
          <a:p>
            <a:r>
              <a:rPr lang="en-US" sz="1600" dirty="0"/>
              <a:t>PC2 explains a smaller but stable share of variance and reflects rotating dynamics between </a:t>
            </a:r>
            <a:r>
              <a:rPr lang="en-US" sz="1600" b="1" dirty="0"/>
              <a:t>market-driven attention</a:t>
            </a:r>
            <a:r>
              <a:rPr lang="en-US" sz="1600" dirty="0"/>
              <a:t> and </a:t>
            </a:r>
            <a:r>
              <a:rPr lang="en-US" sz="1600" b="1" dirty="0"/>
              <a:t>macro-economic stress narratives</a:t>
            </a:r>
            <a:r>
              <a:rPr lang="en-US" sz="1600" dirty="0"/>
              <a:t>.</a:t>
            </a:r>
          </a:p>
          <a:p>
            <a:r>
              <a:rPr lang="en-US" sz="1600" dirty="0"/>
              <a:t>PC3 contributes marginally to total variance and appears to capture short-lived or residual attention shifts.</a:t>
            </a:r>
          </a:p>
          <a:p>
            <a:r>
              <a:rPr lang="en-US" sz="1600" dirty="0"/>
              <a:t>Overall, the PCA results suggest that Google search activity contains both structural and narrative-driven dimensions of investor attention.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3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12C7-C989-F580-9A0C-D80858A06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29"/>
            <a:ext cx="10515600" cy="471123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the sample analysis, we observe the following explained variance ratios: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Does this structure remain stable over time, or do PC1 and PC2 vary across periods?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0DA63-83E8-121E-C045-84A765C9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96" y="1910018"/>
            <a:ext cx="1477608" cy="303796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6E26C8E-B7E3-61CA-4168-7C3EE6E5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sample information</a:t>
            </a:r>
          </a:p>
        </p:txBody>
      </p:sp>
    </p:spTree>
    <p:extLst>
      <p:ext uri="{BB962C8B-B14F-4D97-AF65-F5344CB8AC3E}">
        <p14:creationId xmlns:p14="http://schemas.microsoft.com/office/powerpoint/2010/main" val="65211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B9403-E353-1DF2-D9AA-1151A8AB5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1C893-E802-110F-AD2C-CC6FA21E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/>
          <a:lstStyle/>
          <a:p>
            <a:r>
              <a:rPr lang="en-US" dirty="0"/>
              <a:t>PCA Stability – Rolling Window Analysis</a:t>
            </a:r>
            <a:br>
              <a:rPr lang="en-US" dirty="0"/>
            </a:br>
            <a:r>
              <a:rPr lang="en-US" dirty="0"/>
              <a:t>OOS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F857F-A861-101F-6B2F-3DFE8809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7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To assess stability, PCA was calibrated using a rolling window of 52 weeks. </a:t>
            </a:r>
          </a:p>
          <a:p>
            <a:r>
              <a:rPr lang="en-US" sz="2000" dirty="0"/>
              <a:t>The first five components showed stable behavior. In particular, the first component explains between 59% and 72% of the variance. </a:t>
            </a:r>
          </a:p>
          <a:p>
            <a:r>
              <a:rPr lang="en-US" sz="2000" dirty="0"/>
              <a:t>The first three components jointly explain between 75% and 82% of the variance.</a:t>
            </a:r>
          </a:p>
          <a:p>
            <a:r>
              <a:rPr lang="en-US" sz="2000" dirty="0"/>
              <a:t>This increases to between 83% and 87% when considering the first five components.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7392A-7F84-8BE5-5220-D9AE8F810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59" y="3429000"/>
            <a:ext cx="6553365" cy="3169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98580D-DA10-C116-73CD-40860C184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540" y="3361958"/>
            <a:ext cx="4285977" cy="331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32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04985-C736-CE3C-6219-26597815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5CD4-B530-EAE6-494B-98C8CDDC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/>
          <a:lstStyle/>
          <a:p>
            <a:r>
              <a:rPr lang="en-US" dirty="0"/>
              <a:t>PCA Stability – Rolling Window Analysis</a:t>
            </a:r>
            <a:br>
              <a:rPr lang="en-US" dirty="0"/>
            </a:br>
            <a:r>
              <a:rPr lang="en-US" dirty="0"/>
              <a:t>PC1 Loading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5D72-7E89-BF01-6D5E-681D937C1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62" y="1509713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b="1" dirty="0"/>
              <a:t>Positive loadings</a:t>
            </a:r>
            <a:r>
              <a:rPr lang="en-US" sz="1800" dirty="0"/>
              <a:t> are primarily concentrated in industrial and commodity-related terms (e.g., </a:t>
            </a:r>
            <a:r>
              <a:rPr lang="en-US" sz="1800" i="1" dirty="0"/>
              <a:t>copper</a:t>
            </a:r>
            <a:r>
              <a:rPr lang="en-US" sz="1800" dirty="0"/>
              <a:t>, </a:t>
            </a:r>
            <a:r>
              <a:rPr lang="en-US" sz="1800" i="1" dirty="0"/>
              <a:t>nickel</a:t>
            </a:r>
            <a:r>
              <a:rPr lang="en-US" sz="1800" dirty="0"/>
              <a:t>, </a:t>
            </a:r>
            <a:r>
              <a:rPr lang="en-US" sz="1800" i="1" dirty="0"/>
              <a:t>carbon fiber</a:t>
            </a:r>
            <a:r>
              <a:rPr lang="en-US" sz="1800" dirty="0"/>
              <a:t>, </a:t>
            </a:r>
            <a:r>
              <a:rPr lang="en-US" sz="1800" i="1" dirty="0"/>
              <a:t>construction</a:t>
            </a:r>
            <a:r>
              <a:rPr lang="en-US" sz="1800" dirty="0"/>
              <a:t>), suggesting a real-economy attention component.</a:t>
            </a:r>
          </a:p>
          <a:p>
            <a:r>
              <a:rPr lang="en-US" sz="1800" b="1" dirty="0"/>
              <a:t>Negative loadings</a:t>
            </a:r>
            <a:r>
              <a:rPr lang="en-US" sz="1800" dirty="0"/>
              <a:t> are dominated by consumer, retail, and technology-related terms (e.g., </a:t>
            </a:r>
            <a:r>
              <a:rPr lang="en-US" sz="1800" i="1" dirty="0"/>
              <a:t>Tesla stock</a:t>
            </a:r>
            <a:r>
              <a:rPr lang="en-US" sz="1800" dirty="0"/>
              <a:t>, </a:t>
            </a:r>
            <a:r>
              <a:rPr lang="en-US" sz="1800" i="1" dirty="0"/>
              <a:t>cryptocurrency</a:t>
            </a:r>
            <a:r>
              <a:rPr lang="en-US" sz="1800" dirty="0"/>
              <a:t>, </a:t>
            </a:r>
            <a:r>
              <a:rPr lang="en-US" sz="1800" i="1" dirty="0"/>
              <a:t>Black Friday</a:t>
            </a:r>
            <a:r>
              <a:rPr lang="en-US" sz="1800" dirty="0"/>
              <a:t>, </a:t>
            </a:r>
            <a:r>
              <a:rPr lang="en-US" sz="1800" i="1" dirty="0"/>
              <a:t>Apple stock</a:t>
            </a:r>
            <a:r>
              <a:rPr lang="en-US" sz="1800" dirty="0"/>
              <a:t>, </a:t>
            </a:r>
            <a:r>
              <a:rPr lang="en-US" sz="1800" i="1" dirty="0"/>
              <a:t>TikTok</a:t>
            </a:r>
            <a:r>
              <a:rPr lang="en-US" sz="1800" dirty="0"/>
              <a:t>), reflecting narrative-driven and market-focused attention.</a:t>
            </a:r>
          </a:p>
          <a:p>
            <a:r>
              <a:rPr lang="en-US" sz="1800" dirty="0"/>
              <a:t>Overall, PC1 captures a structural contrast between </a:t>
            </a:r>
            <a:r>
              <a:rPr lang="en-US" sz="1800" b="1" dirty="0"/>
              <a:t>industrial/real-economy attention</a:t>
            </a:r>
            <a:r>
              <a:rPr lang="en-US" sz="1800" dirty="0"/>
              <a:t> and </a:t>
            </a:r>
            <a:r>
              <a:rPr lang="en-US" sz="1800" b="1" dirty="0"/>
              <a:t>consumer/technology-driven attention</a:t>
            </a:r>
            <a:r>
              <a:rPr lang="en-US" sz="18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6497C-25AF-5D03-A668-5D012976D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187" y="3566841"/>
            <a:ext cx="5166879" cy="31544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98A1AF-3C38-AC2A-FBE3-EF99E3E26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66" y="3566841"/>
            <a:ext cx="5034300" cy="307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21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9F872-AC20-200E-ADE0-471A56A4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6369-166E-A117-6FB1-2C744BA88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/>
          <a:lstStyle/>
          <a:p>
            <a:r>
              <a:rPr lang="en-US" dirty="0"/>
              <a:t>PCA Stability – Rolling Window Analysis</a:t>
            </a:r>
            <a:br>
              <a:rPr lang="en-US" dirty="0"/>
            </a:br>
            <a:r>
              <a:rPr lang="en-US" dirty="0"/>
              <a:t>PC2 Loading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1D936-C03F-B084-04D1-AAA7FE890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62" y="15097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PC2 shows greater rotation over time compared to PC1, indicating more narrative dynamics.</a:t>
            </a:r>
          </a:p>
          <a:p>
            <a:r>
              <a:rPr lang="en-US" sz="2000" dirty="0"/>
              <a:t>Positive loadings are dominated by retail, tech, and market-related terms (e.g., </a:t>
            </a:r>
            <a:r>
              <a:rPr lang="en-US" sz="2000" i="1" dirty="0"/>
              <a:t>Tesla</a:t>
            </a:r>
            <a:r>
              <a:rPr lang="en-US" sz="2000" dirty="0"/>
              <a:t>, </a:t>
            </a:r>
            <a:r>
              <a:rPr lang="en-US" sz="2000" i="1" dirty="0"/>
              <a:t>Nasdaq</a:t>
            </a:r>
            <a:r>
              <a:rPr lang="en-US" sz="2000" dirty="0"/>
              <a:t>, </a:t>
            </a:r>
            <a:r>
              <a:rPr lang="en-US" sz="2000" i="1" dirty="0"/>
              <a:t>ETF</a:t>
            </a:r>
            <a:r>
              <a:rPr lang="en-US" sz="2000" dirty="0"/>
              <a:t>, </a:t>
            </a:r>
            <a:r>
              <a:rPr lang="en-US" sz="2000" i="1" dirty="0"/>
              <a:t>TikTok</a:t>
            </a:r>
            <a:r>
              <a:rPr lang="en-US" sz="2000" dirty="0"/>
              <a:t>).</a:t>
            </a:r>
          </a:p>
          <a:p>
            <a:r>
              <a:rPr lang="en-US" sz="2000" dirty="0"/>
              <a:t>Negative loadings are concentrated in macroeconomic stress terms (e.g., </a:t>
            </a:r>
            <a:r>
              <a:rPr lang="en-US" sz="2000" i="1" dirty="0"/>
              <a:t>inflation</a:t>
            </a:r>
            <a:r>
              <a:rPr lang="en-US" sz="2000" dirty="0"/>
              <a:t>, </a:t>
            </a:r>
            <a:r>
              <a:rPr lang="en-US" sz="2000" i="1" dirty="0"/>
              <a:t>GDP</a:t>
            </a:r>
            <a:r>
              <a:rPr lang="en-US" sz="2000" dirty="0"/>
              <a:t>, </a:t>
            </a:r>
            <a:r>
              <a:rPr lang="en-US" sz="2000" i="1" dirty="0"/>
              <a:t>interest rates</a:t>
            </a:r>
            <a:r>
              <a:rPr lang="en-US" sz="2000" dirty="0"/>
              <a:t>, </a:t>
            </a:r>
            <a:r>
              <a:rPr lang="en-US" sz="2000" i="1" dirty="0"/>
              <a:t>great depression</a:t>
            </a:r>
            <a:r>
              <a:rPr lang="en-US" sz="2000" dirty="0"/>
              <a:t>).</a:t>
            </a:r>
          </a:p>
          <a:p>
            <a:r>
              <a:rPr lang="en-US" sz="2000" dirty="0"/>
              <a:t>Overall, PC2 captures shifts between </a:t>
            </a:r>
            <a:r>
              <a:rPr lang="en-US" sz="2000" b="1" dirty="0"/>
              <a:t>market-driven attention</a:t>
            </a:r>
            <a:r>
              <a:rPr lang="en-US" sz="2000" dirty="0"/>
              <a:t> and </a:t>
            </a:r>
            <a:r>
              <a:rPr lang="en-US" sz="2000" b="1" dirty="0"/>
              <a:t>macro stress attention</a:t>
            </a:r>
            <a:r>
              <a:rPr lang="en-US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ACFA4-D09C-15F2-9366-17F6772F8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24" y="3685382"/>
            <a:ext cx="4675713" cy="2850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1DBF9D-FA4F-F61C-4A25-4C9A2C69D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704" y="3584695"/>
            <a:ext cx="5059958" cy="308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2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7978-4BA7-CC44-DD5A-3C3F747E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B348-A2DF-D9FF-9366-EA99E004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/>
          <a:lstStyle/>
          <a:p>
            <a:r>
              <a:rPr lang="en-US" dirty="0"/>
              <a:t>PCA Stability – Rolling Window Analysis</a:t>
            </a:r>
            <a:br>
              <a:rPr lang="en-US" dirty="0"/>
            </a:br>
            <a:r>
              <a:rPr lang="en-US" dirty="0"/>
              <a:t>PC3 Loading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98EA-C248-5F7E-070A-3EDEDED0B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62" y="15097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PC3 shows higher rotation and lower persistence than PC1 and PC2.</a:t>
            </a:r>
          </a:p>
          <a:p>
            <a:r>
              <a:rPr lang="en-US" sz="2000" dirty="0"/>
              <a:t>Loadings reflect a mixed set of macro, energy, and tech-related terms, without a clear structural theme.</a:t>
            </a:r>
          </a:p>
          <a:p>
            <a:r>
              <a:rPr lang="en-US" sz="2000" dirty="0"/>
              <a:t>Overall, PC3 appears to capture short-lived narrative shifts or residual attention dynamics.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F670FE-C59F-B7B6-B23E-BB4327C3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943918"/>
            <a:ext cx="5772411" cy="3524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7996BF-FB40-2153-294E-D0B3C66B2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89" y="2943919"/>
            <a:ext cx="5772412" cy="352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3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461</Words>
  <Application>Microsoft Macintosh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General Overview</vt:lpstr>
      <vt:lpstr>In the sample information</vt:lpstr>
      <vt:lpstr>PCA Stability – Rolling Window Analysis OOS Analysis</vt:lpstr>
      <vt:lpstr>PCA Stability – Rolling Window Analysis PC1 Loading Interpretation</vt:lpstr>
      <vt:lpstr>PCA Stability – Rolling Window Analysis PC2 Loading Interpretation</vt:lpstr>
      <vt:lpstr>PCA Stability – Rolling Window Analysis PC3 Loading 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Castillo Morales</dc:creator>
  <cp:lastModifiedBy>Rodrigo Castillo Morales</cp:lastModifiedBy>
  <cp:revision>1</cp:revision>
  <dcterms:created xsi:type="dcterms:W3CDTF">2026-02-26T19:48:50Z</dcterms:created>
  <dcterms:modified xsi:type="dcterms:W3CDTF">2026-02-26T20:32:23Z</dcterms:modified>
</cp:coreProperties>
</file>